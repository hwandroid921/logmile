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53324"/>
            <a:ext cx="45720" cy="7644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" y="317114"/>
            <a:ext cx="45720" cy="11265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278892"/>
            <a:ext cx="45720" cy="1508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228600"/>
            <a:ext cx="45720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03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logmile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화물차 운전자 피로도</a:t>
            </a:r>
            <a:endParaRPr lang="en-US" sz="4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 플랫폼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29184" cy="45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59152"/>
            <a:ext cx="1353312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915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 운행 데이터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65960" y="2359152"/>
            <a:ext cx="1078992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3591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번호판  OCR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2359152"/>
            <a:ext cx="1051560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 관제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15968" y="2359152"/>
            <a:ext cx="1005840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359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2026.05.27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93392" y="47365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백경서 · 유환희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시간 · 휴식 · 야간 운행 데이터를 통합 분석하여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 피로 위험을 실시간 관제하는 웹 플랫폼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logmile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679192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9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2679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04.28 ~ 05.27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72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대상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3072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업체 · 50대 차량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65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37360" y="34655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백경서 · 유환희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742432" y="1444752"/>
            <a:ext cx="3017520" cy="3429000"/>
          </a:xfrm>
          <a:prstGeom prst="rect">
            <a:avLst/>
          </a:prstGeom>
          <a:solidFill>
            <a:srgbClr val="F8F5F0"/>
          </a:solidFill>
          <a:ln w="9525">
            <a:solidFill>
              <a:srgbClr val="CCBFB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42432" y="29946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logmile 대시보드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633472" cy="1627632"/>
          </a:xfrm>
          <a:prstGeom prst="roundRect">
            <a:avLst>
              <a:gd name="adj" fmla="val 5056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1371600" cy="256032"/>
          </a:xfrm>
          <a:prstGeom prst="roundRect">
            <a:avLst>
              <a:gd name="adj" fmla="val 178571"/>
            </a:avLst>
          </a:prstGeom>
          <a:solidFill>
            <a:srgbClr val="EDD0CA"/>
          </a:solidFill>
          <a:ln w="12700">
            <a:solidFill>
              <a:srgbClr val="EDD0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58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장거리 · 야간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화물차 운행은 구조적으로 장시간 연속 운행과 야간 운행에 노출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33472" cy="1627632"/>
          </a:xfrm>
          <a:prstGeom prst="roundRect">
            <a:avLst>
              <a:gd name="adj" fmla="val 5056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47088"/>
            <a:ext cx="1417320" cy="256032"/>
          </a:xfrm>
          <a:prstGeom prst="roundRect">
            <a:avLst>
              <a:gd name="adj" fmla="val 178571"/>
            </a:avLst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7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중심 관제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9000" y="2176272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관제는 위치 확인 중심 — 운전자 피로를 정량적으로 측정 불가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33472" cy="1627632"/>
          </a:xfrm>
          <a:prstGeom prst="roundRect">
            <a:avLst>
              <a:gd name="adj" fmla="val 5056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47088"/>
            <a:ext cx="1417320" cy="256032"/>
          </a:xfrm>
          <a:prstGeom prst="roundRect">
            <a:avLst>
              <a:gd name="adj" fmla="val 178571"/>
            </a:avLst>
          </a:prstGeom>
          <a:solidFill>
            <a:srgbClr val="C8D4C0"/>
          </a:solidFill>
          <a:ln w="12700">
            <a:solidFill>
              <a:srgbClr val="C8D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요인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2176272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· 휴식 · 야간 데이터 기반 복합 피로도 점수 산정 필요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5910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325880" y="2093976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939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운행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04872" y="2093976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20939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번호판 OCR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83864" y="2093976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20939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 이벤트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25237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분석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325880" y="3026664"/>
            <a:ext cx="1371600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기준 점수화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88920" y="3026664"/>
            <a:ext cx="74980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4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266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30168" y="3026664"/>
            <a:ext cx="84124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A06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30266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6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62856" y="3026664"/>
            <a:ext cx="74980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0266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345643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및 대응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3959352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39593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알림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04872" y="3959352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39593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발송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3959352"/>
            <a:ext cx="987552" cy="256032"/>
          </a:xfrm>
          <a:prstGeom prst="roundRect">
            <a:avLst>
              <a:gd name="adj" fmla="val 17857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39593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권고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1600200"/>
            <a:ext cx="3200400" cy="3017520"/>
          </a:xfrm>
          <a:prstGeom prst="rect">
            <a:avLst/>
          </a:prstGeom>
          <a:solidFill>
            <a:srgbClr val="F8F5F0"/>
          </a:solidFill>
          <a:ln w="9525">
            <a:solidFill>
              <a:srgbClr val="CCBFB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577840" y="29443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다이어그램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3C4147"/>
          </a:solidFill>
          <a:ln w="12700">
            <a:solidFill>
              <a:srgbClr val="3C41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Vue.js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· Pinia · Chart.js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527A52"/>
          </a:solidFill>
          <a:ln w="12700">
            <a:solidFill>
              <a:srgbClr val="527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334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YOLO11n · EasyOCR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C49020"/>
          </a:solidFill>
          <a:ln w="12700">
            <a:solidFill>
              <a:srgbClr val="C49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373989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B / C 시나리오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15768" y="26974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08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572768"/>
            <a:ext cx="2468880" cy="2852928"/>
          </a:xfrm>
          <a:prstGeom prst="roundRect">
            <a:avLst>
              <a:gd name="adj" fmla="val 2593"/>
            </a:avLst>
          </a:prstGeom>
          <a:solidFill>
            <a:srgbClr val="3C4147"/>
          </a:solidFill>
          <a:ln w="12700">
            <a:solidFill>
              <a:srgbClr val="3C41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6824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18688" y="1892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3.5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55848" y="232257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· JWT 인증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계산 · 업체 격리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42432" y="26974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08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44768" y="1938528"/>
            <a:ext cx="2606040" cy="2011680"/>
          </a:xfrm>
          <a:prstGeom prst="roundRect">
            <a:avLst>
              <a:gd name="adj" fmla="val 3182"/>
            </a:avLst>
          </a:prstGeom>
          <a:solidFill>
            <a:srgbClr val="6A7A8A"/>
          </a:solidFill>
          <a:ln w="12700">
            <a:solidFill>
              <a:srgbClr val="6A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0482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44768" y="2267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281928" y="26883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테이블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· 피로 · 이벤트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4663440"/>
            <a:ext cx="3840480" cy="274320"/>
          </a:xfrm>
          <a:prstGeom prst="roundRect">
            <a:avLst>
              <a:gd name="adj" fmla="val 166667"/>
            </a:avLst>
          </a:prstGeom>
          <a:solidFill>
            <a:srgbClr val="ECEAE5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 기반 오케스트레이션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· AUTH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시스템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기반 인증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193852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기반 stateless 인증으로</a:t>
            </a:r>
            <a:endParaRPr lang="en-US" sz="13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업체별 데이터 격리 보장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1444752" cy="292608"/>
          </a:xfrm>
          <a:prstGeom prst="roundRect">
            <a:avLst>
              <a:gd name="adj" fmla="val 156250"/>
            </a:avLst>
          </a:prstGeom>
          <a:solidFill>
            <a:srgbClr val="3C4147"/>
          </a:solidFill>
          <a:ln w="12700">
            <a:solidFill>
              <a:srgbClr val="3C4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334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SUPER_ADMIN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2633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업체 관리 · 계정 승인 · 임계값 설정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1005840" cy="292608"/>
          </a:xfrm>
          <a:prstGeom prst="roundRect">
            <a:avLst>
              <a:gd name="adj" fmla="val 156250"/>
            </a:avLst>
          </a:prstGeom>
          <a:solidFill>
            <a:srgbClr val="5A6878"/>
          </a:solidFill>
          <a:ln w="12700">
            <a:solidFill>
              <a:srgbClr val="5A6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3017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업체 관제 · 차량 · 운전자 관리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102412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04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18488" y="3520440"/>
            <a:ext cx="102412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8488" y="35204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34056" y="3520440"/>
            <a:ext cx="102412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35204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분리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9624" y="3520440"/>
            <a:ext cx="102412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35204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격리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742432" y="1444752"/>
            <a:ext cx="3017520" cy="3429000"/>
          </a:xfrm>
          <a:prstGeom prst="rect">
            <a:avLst/>
          </a:prstGeom>
          <a:solidFill>
            <a:srgbClr val="F8F5F0"/>
          </a:solidFill>
          <a:ln w="9525">
            <a:solidFill>
              <a:srgbClr val="CCBFB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742432" y="29946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· DASHBOARD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대시보드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임계값 로직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운행 · 일일 총 운행 · 야간 시간 · 휴식 여부를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임계값 기준으로 점수화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505456"/>
            <a:ext cx="1389888" cy="274320"/>
          </a:xfrm>
          <a:prstGeom prst="roundRect">
            <a:avLst>
              <a:gd name="adj" fmla="val 166667"/>
            </a:avLst>
          </a:prstGeom>
          <a:solidFill>
            <a:srgbClr val="F2EEEA"/>
          </a:solidFill>
          <a:ln w="9525">
            <a:solidFill>
              <a:srgbClr val="4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054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· 0~39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02536" y="2505456"/>
            <a:ext cx="1536192" cy="274320"/>
          </a:xfrm>
          <a:prstGeom prst="roundRect">
            <a:avLst>
              <a:gd name="adj" fmla="val 166667"/>
            </a:avLst>
          </a:prstGeom>
          <a:solidFill>
            <a:srgbClr val="F2EEEA"/>
          </a:solidFill>
          <a:ln w="9525">
            <a:solidFill>
              <a:srgbClr val="A06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25054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6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 · 40~69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48456" y="2505456"/>
            <a:ext cx="1353312" cy="274320"/>
          </a:xfrm>
          <a:prstGeom prst="roundRect">
            <a:avLst>
              <a:gd name="adj" fmla="val 166667"/>
            </a:avLst>
          </a:prstGeom>
          <a:solidFill>
            <a:srgbClr val="F2EEEA"/>
          </a:solidFill>
          <a:ln w="9525">
            <a:solidFill>
              <a:srgbClr val="C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· 70+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사고 예방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5029200" cy="402336"/>
          </a:xfrm>
          <a:prstGeom prst="roundRect">
            <a:avLst>
              <a:gd name="adj" fmla="val 20455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38144"/>
            <a:ext cx="594360" cy="256032"/>
          </a:xfrm>
          <a:prstGeom prst="roundRect">
            <a:avLst>
              <a:gd name="adj" fmla="val 178571"/>
            </a:avLst>
          </a:prstGeom>
          <a:solidFill>
            <a:srgbClr val="C8D4C0"/>
          </a:solidFill>
          <a:ln w="12700">
            <a:solidFill>
              <a:srgbClr val="C8D4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53312" y="33649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실시간 상태 배지 표시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5029200" cy="402336"/>
          </a:xfrm>
          <a:prstGeom prst="roundRect">
            <a:avLst>
              <a:gd name="adj" fmla="val 20455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59352"/>
            <a:ext cx="594360" cy="256032"/>
          </a:xfrm>
          <a:prstGeom prst="roundRect">
            <a:avLst>
              <a:gd name="adj" fmla="val 178571"/>
            </a:avLst>
          </a:prstGeom>
          <a:solidFill>
            <a:srgbClr val="E8D4B0"/>
          </a:solidFill>
          <a:ln w="12700">
            <a:solidFill>
              <a:srgbClr val="E8D4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59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6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53312" y="388620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등급 도달 시 문자 발송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407408"/>
            <a:ext cx="5029200" cy="402336"/>
          </a:xfrm>
          <a:prstGeom prst="roundRect">
            <a:avLst>
              <a:gd name="adj" fmla="val 20455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80560"/>
            <a:ext cx="594360" cy="256032"/>
          </a:xfrm>
          <a:prstGeom prst="roundRect">
            <a:avLst>
              <a:gd name="adj" fmla="val 178571"/>
            </a:avLst>
          </a:prstGeom>
          <a:solidFill>
            <a:srgbClr val="E8C0B0"/>
          </a:solidFill>
          <a:ln w="12700">
            <a:solidFill>
              <a:srgbClr val="E8C0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53312" y="440740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 도달 시 전화 권고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42432" y="1444752"/>
            <a:ext cx="3017520" cy="3429000"/>
          </a:xfrm>
          <a:prstGeom prst="rect">
            <a:avLst/>
          </a:prstGeom>
          <a:solidFill>
            <a:srgbClr val="F8F5F0"/>
          </a:solidFill>
          <a:ln w="9525">
            <a:solidFill>
              <a:srgbClr val="CCBFB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742432" y="29946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화면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· SIMULATION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 시뮬레이션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시작/종료, 휴식, 입출차 이벤트를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등록하여 상세 데이터 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96312"/>
            <a:ext cx="960120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963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시작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54480" y="2496312"/>
            <a:ext cx="960120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4963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 등록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2496312"/>
            <a:ext cx="749808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4963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47288" y="2496312"/>
            <a:ext cx="960120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4963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종료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프리셋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1508760" cy="1097280"/>
          </a:xfrm>
          <a:prstGeom prst="roundRect">
            <a:avLst>
              <a:gd name="adj" fmla="val 7500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6132" y="3511296"/>
            <a:ext cx="402336" cy="402336"/>
          </a:xfrm>
          <a:prstGeom prst="ellipse">
            <a:avLst/>
          </a:prstGeom>
          <a:solidFill>
            <a:srgbClr val="C8D4C0"/>
          </a:solidFill>
          <a:ln w="12700">
            <a:solidFill>
              <a:srgbClr val="C8D4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" y="3511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운행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3383280"/>
            <a:ext cx="1508760" cy="1097280"/>
          </a:xfrm>
          <a:prstGeom prst="roundRect">
            <a:avLst>
              <a:gd name="adj" fmla="val 7500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6332" y="3511296"/>
            <a:ext cx="402336" cy="402336"/>
          </a:xfrm>
          <a:prstGeom prst="ellipse">
            <a:avLst/>
          </a:prstGeom>
          <a:solidFill>
            <a:srgbClr val="E8D4B0"/>
          </a:solidFill>
          <a:ln w="12700">
            <a:solidFill>
              <a:srgbClr val="E8D4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6332" y="3511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6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40050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운행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03320" y="3383280"/>
            <a:ext cx="1508760" cy="1097280"/>
          </a:xfrm>
          <a:prstGeom prst="roundRect">
            <a:avLst>
              <a:gd name="adj" fmla="val 7500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6532" y="3511296"/>
            <a:ext cx="402336" cy="402336"/>
          </a:xfrm>
          <a:prstGeom prst="ellipse">
            <a:avLst/>
          </a:prstGeom>
          <a:solidFill>
            <a:srgbClr val="E8C0B0"/>
          </a:solidFill>
          <a:ln w="12700">
            <a:solidFill>
              <a:srgbClr val="E8C0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6532" y="3511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03320" y="40050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운행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42432" y="1444752"/>
            <a:ext cx="3017520" cy="3429000"/>
          </a:xfrm>
          <a:prstGeom prst="rect">
            <a:avLst/>
          </a:prstGeom>
          <a:solidFill>
            <a:srgbClr val="F8F5F0"/>
          </a:solidFill>
          <a:ln w="9525">
            <a:solidFill>
              <a:srgbClr val="CCBFB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742432" y="29946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화면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흐름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389888"/>
            <a:ext cx="420624" cy="420624"/>
          </a:xfrm>
          <a:prstGeom prst="ellipse">
            <a:avLst/>
          </a:prstGeom>
          <a:solidFill>
            <a:srgbClr val="555D65"/>
          </a:solidFill>
          <a:ln w="12700">
            <a:solidFill>
              <a:srgbClr val="555D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1389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4447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2468880" cy="1353312"/>
          </a:xfrm>
          <a:prstGeom prst="rect">
            <a:avLst/>
          </a:prstGeom>
          <a:solidFill>
            <a:srgbClr val="4A5260"/>
          </a:solidFill>
          <a:ln w="12700">
            <a:solidFill>
              <a:srgbClr val="4A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249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28216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28216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분기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61688" y="1389888"/>
            <a:ext cx="420624" cy="420624"/>
          </a:xfrm>
          <a:prstGeom prst="ellipse">
            <a:avLst/>
          </a:prstGeom>
          <a:solidFill>
            <a:srgbClr val="555D65"/>
          </a:solidFill>
          <a:ln w="12700">
            <a:solidFill>
              <a:srgbClr val="555D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1389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14447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9019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7560" y="2267712"/>
            <a:ext cx="2468880" cy="1353312"/>
          </a:xfrm>
          <a:prstGeom prst="rect">
            <a:avLst/>
          </a:prstGeom>
          <a:solidFill>
            <a:srgbClr val="4A5260"/>
          </a:solidFill>
          <a:ln w="12700">
            <a:solidFill>
              <a:srgbClr val="4A5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249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화면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현황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08576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알림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42048" y="1389888"/>
            <a:ext cx="420624" cy="420624"/>
          </a:xfrm>
          <a:prstGeom prst="ellipse">
            <a:avLst/>
          </a:prstGeom>
          <a:solidFill>
            <a:srgbClr val="555D65"/>
          </a:solidFill>
          <a:ln w="12700">
            <a:solidFill>
              <a:srgbClr val="555D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389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19019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2267712"/>
            <a:ext cx="2468880" cy="1353312"/>
          </a:xfrm>
          <a:prstGeom prst="rect">
            <a:avLst/>
          </a:prstGeom>
          <a:solidFill>
            <a:srgbClr val="4A5260"/>
          </a:solidFill>
          <a:ln w="12700">
            <a:solidFill>
              <a:srgbClr val="4A52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249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화면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88936" y="3749040"/>
            <a:ext cx="1197864" cy="246888"/>
          </a:xfrm>
          <a:prstGeom prst="roundRect">
            <a:avLst>
              <a:gd name="adj" fmla="val 185185"/>
            </a:avLst>
          </a:prstGeom>
          <a:solidFill>
            <a:srgbClr val="3A3F47"/>
          </a:solidFill>
          <a:ln w="9525">
            <a:solidFill>
              <a:srgbClr val="555D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88936" y="374904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A/B/C 프리셋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3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및 기대 효과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329184" cy="41148"/>
          </a:xfrm>
          <a:prstGeom prst="rect">
            <a:avLst/>
          </a:prstGeom>
          <a:solidFill>
            <a:srgbClr val="9A9080"/>
          </a:solidFill>
          <a:ln w="12700">
            <a:solidFill>
              <a:srgbClr val="9A9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64792"/>
            <a:ext cx="1280160" cy="246888"/>
          </a:xfrm>
          <a:prstGeom prst="roundRect">
            <a:avLst>
              <a:gd name="adj" fmla="val 185185"/>
            </a:avLst>
          </a:prstGeom>
          <a:solidFill>
            <a:srgbClr val="C8D4C0"/>
          </a:solidFill>
          <a:ln w="12700">
            <a:solidFill>
              <a:srgbClr val="C8D4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647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수치화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 피로 상태를 정량적으로 산정하여 관제 가능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62072"/>
            <a:ext cx="1280160" cy="246888"/>
          </a:xfrm>
          <a:prstGeom prst="roundRect">
            <a:avLst>
              <a:gd name="adj" fmla="val 185185"/>
            </a:avLst>
          </a:prstGeom>
          <a:solidFill>
            <a:srgbClr val="E8D4B0"/>
          </a:solidFill>
          <a:ln w="12700">
            <a:solidFill>
              <a:srgbClr val="E8D4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620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68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운행 식별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대시보드에서 위험 차량을 빠르게 파악하고 조치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59352"/>
            <a:ext cx="1417320" cy="246888"/>
          </a:xfrm>
          <a:prstGeom prst="roundRect">
            <a:avLst>
              <a:gd name="adj" fmla="val 185185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593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검증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 수집 전에도 전체 흐름 검증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1627632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764792"/>
            <a:ext cx="1554480" cy="246888"/>
          </a:xfrm>
          <a:prstGeom prst="roundRect">
            <a:avLst>
              <a:gd name="adj" fmla="val 185185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76479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가능 아키텍처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916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CCTV · GPS · OCR 장비 연결 가능한 구조 확보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2724912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FDFAF6"/>
          </a:solidFill>
          <a:ln w="9525">
            <a:solidFill>
              <a:srgbClr val="E0DA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1325880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186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시각화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3218688"/>
            <a:ext cx="1170432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1868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누적 분석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24928" y="321868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F2EEEA"/>
          </a:solidFill>
          <a:ln w="9525">
            <a:solidFill>
              <a:srgbClr val="CCB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32186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DTG / OBD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3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569476"/>
            <a:ext cx="45720" cy="7644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24528" y="1533266"/>
            <a:ext cx="45720" cy="11265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8536" y="1495044"/>
            <a:ext cx="45720" cy="1508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52544" y="1444752"/>
            <a:ext cx="45720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9704" y="1426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logmile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7315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피로도 관제로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화물차 운행 안전을 지킵니다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416552" y="2999232"/>
            <a:ext cx="329184" cy="45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7772" y="3172968"/>
            <a:ext cx="1051560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7772" y="31729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관제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9060" y="3172968"/>
            <a:ext cx="1051560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9060" y="31729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피로도 판단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70348" y="3172968"/>
            <a:ext cx="1325880" cy="274320"/>
          </a:xfrm>
          <a:prstGeom prst="roundRect">
            <a:avLst>
              <a:gd name="adj" fmla="val 166667"/>
            </a:avLst>
          </a:prstGeom>
          <a:solidFill>
            <a:srgbClr val="3A3F4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0348" y="31729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검증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0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2026.05.27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백경서 · 유환희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logmile 발표자료</dc:title>
  <dc:subject>PptxGenJS Presentation</dc:subject>
  <dc:creator>PptxGenJS</dc:creator>
  <cp:lastModifiedBy>PptxGenJS</cp:lastModifiedBy>
  <cp:revision>1</cp:revision>
  <dcterms:created xsi:type="dcterms:W3CDTF">2026-05-27T08:13:50Z</dcterms:created>
  <dcterms:modified xsi:type="dcterms:W3CDTF">2026-05-27T08:13:50Z</dcterms:modified>
</cp:coreProperties>
</file>